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22960"/>
            <a:ext cx="7863840" cy="3474720"/>
          </a:xfrm>
          <a:prstGeom prst="rect">
            <a:avLst/>
          </a:prstGeom>
          <a:solidFill>
            <a:srgbClr val="111828"/>
          </a:solidFill>
          <a:ln w="12700">
            <a:solidFill>
              <a:srgbClr val="00C2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822960"/>
            <a:ext cx="109728" cy="3474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00584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Overview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 ·  Technologies  ·  Algorithms  ·  Applications  ·  Future Prospects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3246120"/>
            <a:ext cx="1691640" cy="384048"/>
          </a:xfrm>
          <a:prstGeom prst="rect">
            <a:avLst/>
          </a:prstGeom>
          <a:solidFill>
            <a:srgbClr val="0D1A2D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461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3246120"/>
            <a:ext cx="1691640" cy="384048"/>
          </a:xfrm>
          <a:prstGeom prst="rect">
            <a:avLst/>
          </a:prstGeom>
          <a:solidFill>
            <a:srgbClr val="0D1A2D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32461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246120"/>
            <a:ext cx="1691640" cy="384048"/>
          </a:xfrm>
          <a:prstGeom prst="rect">
            <a:avLst/>
          </a:prstGeom>
          <a:solidFill>
            <a:srgbClr val="0D1A2D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2461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3246120"/>
            <a:ext cx="1691640" cy="384048"/>
          </a:xfrm>
          <a:prstGeom prst="rect">
            <a:avLst/>
          </a:prstGeom>
          <a:solidFill>
            <a:srgbClr val="0D1A2D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2461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Decoherence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General Audiences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Quantum Computing?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858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is a fundamentally new paradigm of computation that harnesses principles of quantum mechanics — superposition, entanglement, and interference — to solve problems that are intractable for classical computers.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468880" cy="2286000"/>
          </a:xfrm>
          <a:prstGeom prst="rect">
            <a:avLst/>
          </a:prstGeom>
          <a:solidFill>
            <a:srgbClr val="111828"/>
          </a:solidFill>
          <a:ln w="1524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63040"/>
            <a:ext cx="2468880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as 0 OR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sequential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63240" y="1463040"/>
            <a:ext cx="2468880" cy="2286000"/>
          </a:xfrm>
          <a:prstGeom prst="rect">
            <a:avLst/>
          </a:prstGeom>
          <a:solidFill>
            <a:srgbClr val="111828"/>
          </a:solidFill>
          <a:ln w="1524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63240" y="1463040"/>
            <a:ext cx="246888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21488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as 0, 1, or BOTH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(Superposition)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15000" y="1463040"/>
            <a:ext cx="2468880" cy="2286000"/>
          </a:xfrm>
          <a:prstGeom prst="rect">
            <a:avLst/>
          </a:prstGeom>
          <a:solidFill>
            <a:srgbClr val="111828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15000" y="1463040"/>
            <a:ext cx="246888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52160" y="21488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2ⁿ states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potential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931920"/>
            <a:ext cx="8321040" cy="868680"/>
          </a:xfrm>
          <a:prstGeom prst="rect">
            <a:avLst/>
          </a:prstGeom>
          <a:solidFill>
            <a:srgbClr val="0D1A2D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502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 register of n qubits can simultaneously represent 2ⁿ values. With 300 qubits, that's more states than there are atoms in the observable universe.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&amp; Superposition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13232"/>
            <a:ext cx="4023360" cy="4160520"/>
          </a:xfrm>
          <a:prstGeom prst="rect">
            <a:avLst/>
          </a:prstGeom>
          <a:solidFill>
            <a:srgbClr val="111828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777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Qubit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qubit (quantum bit) is the basic unit of quantum information. Unlike classical bits that are strictly 0 or 1, a qubit can exist in a superposition of both states.
</a:t>
            </a:r>
            <a:pPr indent="0" marL="0">
              <a:buNone/>
            </a:pPr>
            <a:r>
              <a:rPr lang="en-US" sz="12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representation:
</a:t>
            </a:r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 = α|0⟩ + β|1⟩
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|α|² + |β|² = 1 and α, β are complex probability amplitudes.
</a:t>
            </a:r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qubits can be realized as:
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46304" cy="146304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spin (up/down)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73552"/>
            <a:ext cx="146304" cy="146304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27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 polarization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21024"/>
            <a:ext cx="146304" cy="146304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753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Superconducting circuits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68496"/>
            <a:ext cx="146304" cy="146304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227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713232"/>
            <a:ext cx="4114800" cy="4160520"/>
          </a:xfrm>
          <a:prstGeom prst="rect">
            <a:avLst/>
          </a:prstGeom>
          <a:solidFill>
            <a:srgbClr val="111828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777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&amp; Measurement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9160" y="1298448"/>
            <a:ext cx="3840480" cy="1005840"/>
          </a:xfrm>
          <a:prstGeom prst="rect">
            <a:avLst/>
          </a:prstGeom>
          <a:solidFill>
            <a:srgbClr val="0D1A2D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298448"/>
            <a:ext cx="64008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353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Parallelism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66420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qubits in superposition represent 2ⁿ states at once, letting quantum computers evaluate all possibilities simultaneously.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459736"/>
            <a:ext cx="3840480" cy="1005840"/>
          </a:xfrm>
          <a:prstGeom prst="rect">
            <a:avLst/>
          </a:prstGeom>
          <a:solidFill>
            <a:srgbClr val="0D1A2D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459736"/>
            <a:ext cx="64008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514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Collapse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282549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a qubit collapses its superposition — it becomes either 0 or 1 with probabilities set by |α|² and |β|².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621024"/>
            <a:ext cx="3840480" cy="1005840"/>
          </a:xfrm>
          <a:prstGeom prst="rect">
            <a:avLst/>
          </a:prstGeom>
          <a:solidFill>
            <a:srgbClr val="0D1A2D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621024"/>
            <a:ext cx="64008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675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98678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quantum gates (except measurement) are reversible and unitary, preserving quantum information throughout computation.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&amp; Interference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13232"/>
            <a:ext cx="4023360" cy="4160520"/>
          </a:xfrm>
          <a:prstGeom prst="rect">
            <a:avLst/>
          </a:prstGeom>
          <a:solidFill>
            <a:srgbClr val="111828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777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qubits become correlated so that the state of one instantly determines the state of the other — regardless of distance.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entangled state (Bell state):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(|00⟩ + |11⟩) / √2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measure the first qubit and get |0⟩, you instantly know the second is also |0⟩ — even light-years away.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822960" cy="822960"/>
          </a:xfrm>
          <a:prstGeom prst="ellipse">
            <a:avLst/>
          </a:prstGeom>
          <a:solidFill>
            <a:srgbClr val="10B981">
              <a:alpha val="7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29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Q1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45920" y="3840480"/>
            <a:ext cx="11887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834640" y="3429000"/>
            <a:ext cx="822960" cy="822960"/>
          </a:xfrm>
          <a:prstGeom prst="ellipse">
            <a:avLst/>
          </a:prstGeom>
          <a:solidFill>
            <a:srgbClr val="10B981">
              <a:alpha val="7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3429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correlation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713232"/>
            <a:ext cx="4114800" cy="4160520"/>
          </a:xfrm>
          <a:prstGeom prst="rect">
            <a:avLst/>
          </a:prstGeom>
          <a:solidFill>
            <a:srgbClr val="111828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777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1280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lets quantum algorithms manipulate probability amplitudes — amplifying the likelihood of correct answers and suppressing wrong ones.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2194560"/>
            <a:ext cx="3840480" cy="1143000"/>
          </a:xfrm>
          <a:prstGeom prst="rect">
            <a:avLst/>
          </a:prstGeom>
          <a:solidFill>
            <a:srgbClr val="0D1A2D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Interference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26334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Amplitudes of correct solutions reinforce each other → higher probability of being measured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474720"/>
            <a:ext cx="3840480" cy="1143000"/>
          </a:xfrm>
          <a:prstGeom prst="rect">
            <a:avLst/>
          </a:prstGeom>
          <a:solidFill>
            <a:srgbClr val="0D1A2D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Interference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9136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Amplitudes of wrong solutions cancel each other → near-zero probability of being measured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4572000"/>
            <a:ext cx="3840480" cy="228600"/>
          </a:xfrm>
          <a:prstGeom prst="rect">
            <a:avLst/>
          </a:prstGeom>
          <a:solidFill>
            <a:srgbClr val="0D1A2D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4572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entanglement + interference = quantum advantage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Hardware Architectures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858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major physical approaches compete to realize practical qubits — each with distinct trade-offs: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743200" cy="1600200"/>
          </a:xfrm>
          <a:prstGeom prst="rect">
            <a:avLst/>
          </a:prstGeom>
          <a:solidFill>
            <a:srgbClr val="111828"/>
          </a:solidFill>
          <a:ln w="1016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7432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07008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Superconducting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5544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· Google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1828800"/>
            <a:ext cx="251460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019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gates, chip-scale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" y="2212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Needs millikelvin cooling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743200" cy="1600200"/>
          </a:xfrm>
          <a:prstGeom prst="rect">
            <a:avLst/>
          </a:prstGeom>
          <a:solidFill>
            <a:srgbClr val="111828"/>
          </a:solidFill>
          <a:ln w="1016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97280"/>
            <a:ext cx="27432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207008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15544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IonQ · Quantinuum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1828800"/>
            <a:ext cx="251460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9019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Highest fidelity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10128" y="2212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Slow gates, laser complex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1097280"/>
            <a:ext cx="2743200" cy="1600200"/>
          </a:xfrm>
          <a:prstGeom prst="rect">
            <a:avLst/>
          </a:prstGeom>
          <a:solidFill>
            <a:srgbClr val="111828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09728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1207008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Photonic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44768" y="15544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PsiQuantum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44768" y="1828800"/>
            <a:ext cx="251460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19019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Room temp, low decoherence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44768" y="2212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Probabilistic gates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2788920"/>
            <a:ext cx="2743200" cy="1600200"/>
          </a:xfrm>
          <a:prstGeom prst="rect">
            <a:avLst/>
          </a:prstGeom>
          <a:solidFill>
            <a:srgbClr val="111828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78892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2898648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Atoms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" y="324612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QuEra · Pasqal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" y="3520440"/>
            <a:ext cx="251460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5935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1000s of atoms, flexible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5488" y="3904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Gate speed/fidelity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00400" y="2788920"/>
            <a:ext cx="2743200" cy="1600200"/>
          </a:xfrm>
          <a:prstGeom prst="rect">
            <a:avLst/>
          </a:prstGeom>
          <a:solidFill>
            <a:srgbClr val="111828"/>
          </a:solidFill>
          <a:ln w="1016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2788920"/>
            <a:ext cx="27432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2898648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310128" y="324612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10128" y="3520440"/>
            <a:ext cx="251460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35935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Inherent error resistance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310128" y="3904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Experimentally nascent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035040" y="2788920"/>
            <a:ext cx="2743200" cy="1600200"/>
          </a:xfrm>
          <a:prstGeom prst="rect">
            <a:avLst/>
          </a:prstGeom>
          <a:solidFill>
            <a:srgbClr val="111828"/>
          </a:solidFill>
          <a:ln w="1016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35040" y="2788920"/>
            <a:ext cx="27432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2898648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Spin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144768" y="324612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· SQC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44768" y="3520440"/>
            <a:ext cx="251460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44768" y="35935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CMOS compatible, dense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144768" y="3904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Fabrication variability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Architectures: Superconducting &amp; Trapped 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13232"/>
            <a:ext cx="4023360" cy="4160520"/>
          </a:xfrm>
          <a:prstGeom prst="rect">
            <a:avLst/>
          </a:prstGeom>
          <a:solidFill>
            <a:srgbClr val="111828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13232"/>
            <a:ext cx="402336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22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Superconducting Qubits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IBM, Google, Rigetti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circuits in superconducting materials (e.g. niobium) cooled to millikelvin — near absolute zero. Josephson junctions create artificial atom energy levels.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speed: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4323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Nanoseconds — fastest of all modalities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7980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time: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0540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Microseconds (improving)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675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semiconductor chip fabrication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041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 refrigerators, wiring complexity at scale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713232"/>
            <a:ext cx="4114800" cy="4160520"/>
          </a:xfrm>
          <a:prstGeom prst="rect">
            <a:avLst/>
          </a:prstGeom>
          <a:solidFill>
            <a:srgbClr val="111828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713232"/>
            <a:ext cx="41148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22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Ion Qubits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IonQ, Quantinuum (H-Series)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554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ions (e.g. Ytterbium) suspended by electromagnetic fields in a vacuum trap. Laser beams control their quantum states.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0" y="2176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fidelity: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4323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all modalities (&gt;99.9% two-qubit)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0" y="2798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time: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0540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to minutes — 10,000× longer than superconducting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54880" y="34198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675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All-to-all within a trap zone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5488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gate speeds (~1,000× slower than SC); complex laser infrastructure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— Cracking Modern Encryption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13232"/>
            <a:ext cx="8412480" cy="685800"/>
          </a:xfrm>
          <a:prstGeom prst="rect">
            <a:avLst/>
          </a:prstGeom>
          <a:solidFill>
            <a:srgbClr val="1A0D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49808"/>
            <a:ext cx="8046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Shor's algorithm can factor large integers exponentially faster than any known classical method — threatening RSA and ECC encryption that secures the internet today.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023360" cy="3429000"/>
          </a:xfrm>
          <a:prstGeom prst="rect">
            <a:avLst/>
          </a:prstGeom>
          <a:solidFill>
            <a:srgbClr val="111828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020824"/>
            <a:ext cx="292608" cy="29260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20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superposition of all possible inputs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587752"/>
            <a:ext cx="292608" cy="29260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87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328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modular exponentiation to all inputs at once (quantum parallelism)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292608" cy="29260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54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0998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Quantum Fourier Transform (QFT) to extract periodicity via interference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721608"/>
            <a:ext cx="292608" cy="29260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21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6667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to get period 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288536"/>
            <a:ext cx="292608" cy="29260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885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2336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post-processing finds the prime factors from 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1481328"/>
            <a:ext cx="4114800" cy="3429000"/>
          </a:xfrm>
          <a:prstGeom prst="rect">
            <a:avLst/>
          </a:prstGeom>
          <a:solidFill>
            <a:srgbClr val="111828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554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at a Glance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09160" y="1965960"/>
            <a:ext cx="3840480" cy="731520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965960"/>
            <a:ext cx="64008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0025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23134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vs. best classical algorithms (polynomial vs. superpolynomial time)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770632"/>
            <a:ext cx="3840480" cy="731520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770632"/>
            <a:ext cx="64008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807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/ ECC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31181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public-key cryptosystems at existential risk from sufficiently powerful quantum computers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575304"/>
            <a:ext cx="3840480" cy="731520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575304"/>
            <a:ext cx="64008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611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"Harvest Now,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Later"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39227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adversaries collect encrypted data today to decrypt it when large QCs arrive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4379976"/>
            <a:ext cx="3840480" cy="731520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4379976"/>
            <a:ext cx="64008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44165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PQC 2024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46320" y="4727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standards finalized: ML-KEM, ML-DSA — quantum-resistant alternatives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Quantum Algorithms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Shor's — a toolkit of algorithms unlocks different classes of problems: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8366760" cy="841248"/>
          </a:xfrm>
          <a:prstGeom prst="rect">
            <a:avLst/>
          </a:prstGeom>
          <a:solidFill>
            <a:srgbClr val="111828"/>
          </a:solidFill>
          <a:ln w="762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78992"/>
            <a:ext cx="82296" cy="8412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33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Grover's Algorithm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63840" y="11338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444752"/>
            <a:ext cx="2194560" cy="228600"/>
          </a:xfrm>
          <a:prstGeom prst="rect">
            <a:avLst/>
          </a:prstGeom>
          <a:solidFill>
            <a:srgbClr val="0D1A2D"/>
          </a:solidFill>
          <a:ln w="508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447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Speedup: Quadratic: O(√N) vs O(N)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80360" y="14264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Database search, optimization, NP problem solving, cryptanalysis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" y="1993392"/>
            <a:ext cx="8366760" cy="841248"/>
          </a:xfrm>
          <a:prstGeom prst="rect">
            <a:avLst/>
          </a:prstGeom>
          <a:solidFill>
            <a:srgbClr val="111828"/>
          </a:solidFill>
          <a:ln w="762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993392"/>
            <a:ext cx="82296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048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HHL Algorithm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63840" y="20482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2359152"/>
            <a:ext cx="2194560" cy="228600"/>
          </a:xfrm>
          <a:prstGeom prst="rect">
            <a:avLst/>
          </a:prstGeom>
          <a:solidFill>
            <a:srgbClr val="0D1A2D"/>
          </a:solidFill>
          <a:ln w="508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591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Speedup: Exponential (for sparse systems)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80360" y="23408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Machine learning, scientific simulation, data processing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2907792"/>
            <a:ext cx="8366760" cy="841248"/>
          </a:xfrm>
          <a:prstGeom prst="rect">
            <a:avLst/>
          </a:prstGeom>
          <a:solidFill>
            <a:srgbClr val="111828"/>
          </a:solidFill>
          <a:ln w="762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2907792"/>
            <a:ext cx="82296" cy="84124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9626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— Variational Quantum Eigensolver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863840" y="29626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273552"/>
            <a:ext cx="2194560" cy="228600"/>
          </a:xfrm>
          <a:prstGeom prst="rect">
            <a:avLst/>
          </a:prstGeom>
          <a:solidFill>
            <a:srgbClr val="0D1A2D"/>
          </a:solidFill>
          <a:ln w="5080">
            <a:solidFill>
              <a:srgbClr val="00C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2735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Speedup: Exponential for quantum chemistry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880360" y="32552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Drug discovery, materials science, quantum chemistry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84048" y="3822192"/>
            <a:ext cx="8366760" cy="841248"/>
          </a:xfrm>
          <a:prstGeom prst="rect">
            <a:avLst/>
          </a:prstGeom>
          <a:solidFill>
            <a:srgbClr val="111828"/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3822192"/>
            <a:ext cx="82296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8770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— Quantum Approx. Optimization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863840" y="38770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4187952"/>
            <a:ext cx="2194560" cy="228600"/>
          </a:xfrm>
          <a:prstGeom prst="rect">
            <a:avLst/>
          </a:prstGeom>
          <a:solidFill>
            <a:srgbClr val="0D1A2D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1879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Speedup: Heuristic improvement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880360" y="41696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Logistics, scheduling, financial optimization, MaxCut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Cryptography &amp; Cybersecurity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13232"/>
            <a:ext cx="4023360" cy="4160520"/>
          </a:xfrm>
          <a:prstGeom prst="rect">
            <a:avLst/>
          </a:prstGeom>
          <a:solidFill>
            <a:srgbClr val="180A00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13232"/>
            <a:ext cx="40233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22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Threat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3794760" cy="1051560"/>
          </a:xfrm>
          <a:prstGeom prst="rect">
            <a:avLst/>
          </a:prstGeom>
          <a:solidFill>
            <a:srgbClr val="111828"/>
          </a:solidFill>
          <a:ln w="508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&amp; ECC Broken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168249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can factor large integers and solve discrete logs, rendering RSA and Elliptic Curve Cryptography obsolete.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459736"/>
            <a:ext cx="3794760" cy="1051560"/>
          </a:xfrm>
          <a:prstGeom prst="rect">
            <a:avLst/>
          </a:prstGeom>
          <a:solidFill>
            <a:srgbClr val="111828"/>
          </a:solidFill>
          <a:ln w="508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32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Weakened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284378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Grover's algorithm halves the effective key length — AES-128 becomes as weak as a 64-bit key. Doubling key sizes is the fix.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3794760" cy="1051560"/>
          </a:xfrm>
          <a:prstGeom prst="rect">
            <a:avLst/>
          </a:prstGeom>
          <a:solidFill>
            <a:srgbClr val="111828"/>
          </a:solidFill>
          <a:ln w="508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941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"Harvest Now, Decrypt Later"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40050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Nation-states may already be collecting encrypted traffic to decrypt once quantum computers mature.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17720" y="713232"/>
            <a:ext cx="4114800" cy="4160520"/>
          </a:xfrm>
          <a:prstGeom prst="rect">
            <a:avLst/>
          </a:prstGeom>
          <a:solidFill>
            <a:srgbClr val="001A0D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713232"/>
            <a:ext cx="41148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22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Solutions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09160" y="1298448"/>
            <a:ext cx="3886200" cy="1051560"/>
          </a:xfrm>
          <a:prstGeom prst="rect">
            <a:avLst/>
          </a:prstGeom>
          <a:solidFill>
            <a:srgbClr val="111828"/>
          </a:solidFill>
          <a:ln w="508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371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(PQC)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0" y="168249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finalized standards in 2024: ML-KEM (key exchange), ML-DSA &amp; SLH-DSA (signatures). Based on lattice and hash problems.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2459736"/>
            <a:ext cx="3886200" cy="1051560"/>
          </a:xfrm>
          <a:prstGeom prst="rect">
            <a:avLst/>
          </a:prstGeom>
          <a:solidFill>
            <a:srgbClr val="111828"/>
          </a:solidFill>
          <a:ln w="508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532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Key Distribution (QKD)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46320" y="2843784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quantum mechanics to distribute encryption keys — any eavesdropping attempt is physically detectable.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3621024"/>
            <a:ext cx="3886200" cy="1051560"/>
          </a:xfrm>
          <a:prstGeom prst="rect">
            <a:avLst/>
          </a:prstGeom>
          <a:solidFill>
            <a:srgbClr val="111828"/>
          </a:solidFill>
          <a:ln w="508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6941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Crypto-Agility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46320" y="400507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must build systems that can swap cryptographic algorithms quickly as standards evolve.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Medicine, Drug Discovery &amp; Materials Science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3977640" cy="1920240"/>
          </a:xfrm>
          <a:prstGeom prst="rect">
            <a:avLst/>
          </a:prstGeom>
          <a:solidFill>
            <a:srgbClr val="111828"/>
          </a:solidFill>
          <a:ln w="1016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397764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Simulation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computers cannot accurately model complex quantum-mechanical molecular behavior. Quantum computers are naturally suited — algorithms like VQE can compute molecular ground states with unprecedented accuracy.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07992" y="804672"/>
            <a:ext cx="3977640" cy="1920240"/>
          </a:xfrm>
          <a:prstGeom prst="rect">
            <a:avLst/>
          </a:prstGeom>
          <a:solidFill>
            <a:srgbClr val="111828"/>
          </a:solidFill>
          <a:ln w="1016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804672"/>
            <a:ext cx="397764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932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&amp; 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1353312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 can accelerate identification of drug candidates, model protein folding (Alzheimer's, cancer), predict drug-target interactions, and design molecules with fewer side effects.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3977640" cy="1920240"/>
          </a:xfrm>
          <a:prstGeom prst="rect">
            <a:avLst/>
          </a:prstGeom>
          <a:solidFill>
            <a:srgbClr val="111828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89504"/>
            <a:ext cx="39776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Science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438144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better catalysts (ammonia production, fuel cells), next-gen batteries (Li-S, solid-state electrolytes), semiconductors, and superconductors — all require quantum-level molecular modeling.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07992" y="2889504"/>
            <a:ext cx="3977640" cy="1920240"/>
          </a:xfrm>
          <a:prstGeom prst="rect">
            <a:avLst/>
          </a:prstGeom>
          <a:solidFill>
            <a:srgbClr val="111828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07992" y="2889504"/>
            <a:ext cx="3977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Medicine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45152" y="3438144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modeling individual patient biochemistry in detail, quantum computing could enable highly personalized treatments tailored to a patient's unique genetic makeup and disease profile.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Practically useful molecular simulations will require millions of fault-tolerant physical qubits — still years away.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Optimization &amp; Artificial Intelligence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13232"/>
            <a:ext cx="4023360" cy="4160520"/>
          </a:xfrm>
          <a:prstGeom prst="rect">
            <a:avLst/>
          </a:prstGeom>
          <a:solidFill>
            <a:srgbClr val="111828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13232"/>
            <a:ext cx="402336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22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real-world problems involve finding the best solution among billions of possibilities — a class where quantum algorithms offer significant potential: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794760" cy="594360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11680"/>
            <a:ext cx="64008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48256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Supply Chain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23042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optimization, fleet management — potential 25% cost reduction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3794760" cy="594360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70048"/>
            <a:ext cx="64008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06624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29626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optimization, risk modeling, fraud detection, derivative pricing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28416"/>
            <a:ext cx="3794760" cy="594360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28416"/>
            <a:ext cx="64008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36499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36210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scheduling, resource allocation, process optimization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86784"/>
            <a:ext cx="3794760" cy="594360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86784"/>
            <a:ext cx="64008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23360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" y="42793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optimization, renewable integration, smart distribution networks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713232"/>
            <a:ext cx="4114800" cy="4160520"/>
          </a:xfrm>
          <a:prstGeom prst="rect">
            <a:avLst/>
          </a:prstGeom>
          <a:solidFill>
            <a:srgbClr val="111828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713232"/>
            <a:ext cx="41148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822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Machine Learning (QML)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54880" y="12618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QML explores how quantum computers can accelerate or enhance machine learning tasks: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1783080"/>
            <a:ext cx="3886200" cy="685800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783080"/>
            <a:ext cx="64008" cy="6858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84708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HHL for Linear Systems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46320" y="21305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speedup in solving linear equations — key to many ML algorithms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09160" y="2532888"/>
            <a:ext cx="3886200" cy="685800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532888"/>
            <a:ext cx="64008" cy="6858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59689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46320" y="28803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algorithms may classify high-dimensional data faster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09160" y="3282696"/>
            <a:ext cx="3886200" cy="685800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282696"/>
            <a:ext cx="64008" cy="6858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34670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Variational QML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846320" y="36301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and QAOA form quantum layers in classical-quantum neural networks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09160" y="4032504"/>
            <a:ext cx="3886200" cy="685800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4032504"/>
            <a:ext cx="64008" cy="6858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09651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↔ Quantum Synergy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846320" y="437997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 quantum hardware design, error correction, and algorithm discovery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Challenges: Decoherence &amp; Quantum Error Correction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13232"/>
            <a:ext cx="4023360" cy="4160520"/>
          </a:xfrm>
          <a:prstGeom prst="rect">
            <a:avLst/>
          </a:prstGeom>
          <a:solidFill>
            <a:srgbClr val="130811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13232"/>
            <a:ext cx="40233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22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Decoherence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enemy of quantum computation. Qubits lose their quantum properties by interacting with the environment — heat, vibrations, electromagnetic fields.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794760" cy="475488"/>
          </a:xfrm>
          <a:prstGeom prst="rect">
            <a:avLst/>
          </a:prstGeom>
          <a:solidFill>
            <a:srgbClr val="1118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579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time (SC):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5000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~microseconds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3794760" cy="475488"/>
          </a:xfrm>
          <a:prstGeom prst="rect">
            <a:avLst/>
          </a:prstGeom>
          <a:solidFill>
            <a:srgbClr val="1118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883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time (Ions):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8803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to minutes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163824"/>
            <a:ext cx="3794760" cy="475488"/>
          </a:xfrm>
          <a:prstGeom prst="rect">
            <a:avLst/>
          </a:prstGeom>
          <a:solidFill>
            <a:srgbClr val="1118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186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coherence: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41071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gate cycles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94176"/>
            <a:ext cx="3794760" cy="475488"/>
          </a:xfrm>
          <a:prstGeom prst="rect">
            <a:avLst/>
          </a:prstGeom>
          <a:solidFill>
            <a:srgbClr val="1118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9410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noise, EM fields, cosmic rays, material defects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224528"/>
            <a:ext cx="3794760" cy="475488"/>
          </a:xfrm>
          <a:prstGeom prst="rect">
            <a:avLst/>
          </a:prstGeom>
          <a:solidFill>
            <a:srgbClr val="111828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793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47141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Millikelvin cooling, EM shielding, error mitigation techniques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17720" y="713232"/>
            <a:ext cx="4114800" cy="4160520"/>
          </a:xfrm>
          <a:prstGeom prst="rect">
            <a:avLst/>
          </a:prstGeom>
          <a:solidFill>
            <a:srgbClr val="111828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713232"/>
            <a:ext cx="41148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822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Error Correction (QEC)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54880" y="12618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redundancy (copying bits) doesn't work for qubits — the no-cloning theorem forbids it. QEC encodes one logical qubit across many physical qubits.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09160" y="2103120"/>
            <a:ext cx="3886200" cy="676656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103120"/>
            <a:ext cx="64008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1671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Code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846320" y="24505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widely studied QEC approach — requires ~1,000 physical qubits per logical qubit for reliable computation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09160" y="2834640"/>
            <a:ext cx="3886200" cy="676656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2834640"/>
            <a:ext cx="64008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8986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Threshold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46320" y="3182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QEC only works if physical error rates are below ~0.1–1%. Recent experiments are crossing this threshold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09160" y="3566160"/>
            <a:ext cx="3886200" cy="676656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3566160"/>
            <a:ext cx="64008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6301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QLDPC Codes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846320" y="39136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codes (Quantum Low-Density Parity-Check) promise better efficiency — fewer physical qubits per logical qubit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09160" y="4297680"/>
            <a:ext cx="3886200" cy="676656"/>
          </a:xfrm>
          <a:prstGeom prst="rect">
            <a:avLst/>
          </a:prstGeom>
          <a:solidFill>
            <a:srgbClr val="0D1A2D"/>
          </a:solidFill>
          <a:ln w="3810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4297680"/>
            <a:ext cx="64008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3616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846320" y="46451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error-correction operations must be done without introducing more errors than they fix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Challenges: Scalability, Software &amp; Talent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804672"/>
            <a:ext cx="8366760" cy="868680"/>
          </a:xfrm>
          <a:prstGeom prst="rect">
            <a:avLst/>
          </a:prstGeom>
          <a:solidFill>
            <a:srgbClr val="111828"/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04672"/>
            <a:ext cx="82296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595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Qubit Count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63240" y="877824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have hundreds to ~1,000 physical qubits. Fault-tolerant computation may require millions. Maintaining quality (coherence, fidelity) as scale increases is extremely difficult — manufacturing variations compound.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764792"/>
            <a:ext cx="8366760" cy="868680"/>
          </a:xfrm>
          <a:prstGeom prst="rect">
            <a:avLst/>
          </a:prstGeom>
          <a:solidFill>
            <a:srgbClr val="111828"/>
          </a:solidFill>
          <a:ln w="762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764792"/>
            <a:ext cx="82296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819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&amp; Control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63240" y="1837944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control signals (microwave pulses, laser beams, voltages) to millions of individual qubits inside dilution refrigerators or vacuum chambers — without excessive heat, crosstalk, or cost — is a critical engineering bottleneck.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2724912"/>
            <a:ext cx="8366760" cy="868680"/>
          </a:xfrm>
          <a:prstGeom prst="rect">
            <a:avLst/>
          </a:prstGeom>
          <a:solidFill>
            <a:srgbClr val="111828"/>
          </a:solidFill>
          <a:ln w="762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724912"/>
            <a:ext cx="82296" cy="868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79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Software Maturity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63240" y="2798064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software ecosystem is nascent. Beyond Shor's and Grover's, discovering new practical algorithms is hard. Compilers must map abstract circuits onto noisy hardware. Hybrid quantum-classical integration remains complex.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3685032"/>
            <a:ext cx="8366760" cy="868680"/>
          </a:xfrm>
          <a:prstGeom prst="rect">
            <a:avLst/>
          </a:prstGeom>
          <a:solidFill>
            <a:srgbClr val="111828"/>
          </a:solidFill>
          <a:ln w="762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685032"/>
            <a:ext cx="82296" cy="8686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7398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Gap &amp; Cost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063240" y="3758184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severe shortage of people who combine expertise in quantum physics, engineering, and CS. Dilution refrigerators alone cost millions of dollars. Access to specialized quantum foundries is severely limited.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" y="4572000"/>
            <a:ext cx="8366760" cy="457200"/>
          </a:xfrm>
          <a:prstGeom prst="rect">
            <a:avLst/>
          </a:prstGeom>
          <a:solidFill>
            <a:srgbClr val="0D1A2D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720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in the NISQ era (Noisy Intermediate-Scale Quantum). The goal: transition to Fault-Tolerant Quantum Computation (FTQC).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Computing Industry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rapidly evolving ecosystem of tech giants, startups, and government initiatives: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69848"/>
            <a:ext cx="2697480" cy="1371600"/>
          </a:xfrm>
          <a:prstGeom prst="rect">
            <a:avLst/>
          </a:prstGeom>
          <a:solidFill>
            <a:srgbClr val="111828"/>
          </a:solidFill>
          <a:ln w="889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69848"/>
            <a:ext cx="269748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61288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14721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Superconducting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1728216"/>
            <a:ext cx="246888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830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 (127q), Heron processors; Quantum Volume roadmap; open cloud access via IBM Quantum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069848"/>
            <a:ext cx="2697480" cy="1371600"/>
          </a:xfrm>
          <a:prstGeom prst="rect">
            <a:avLst/>
          </a:prstGeom>
          <a:solidFill>
            <a:srgbClr val="111828"/>
          </a:solidFill>
          <a:ln w="889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69848"/>
            <a:ext cx="269748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161288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82696" y="14721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Superconducting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82696" y="1728216"/>
            <a:ext cx="246888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17830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quantum supremacy (2019, Sycamore); Willow chip with surface code below threshold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0176" y="1069848"/>
            <a:ext cx="2697480" cy="1371600"/>
          </a:xfrm>
          <a:prstGeom prst="rect">
            <a:avLst/>
          </a:prstGeom>
          <a:solidFill>
            <a:srgbClr val="111828"/>
          </a:solidFill>
          <a:ln w="889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0176" y="1069848"/>
            <a:ext cx="26974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1161288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IonQ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89904" y="14721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9904" y="1728216"/>
            <a:ext cx="246888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9904" y="17830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qubits metric; publicly traded; partnerships with AWS, Azure, Google Cloud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551176"/>
            <a:ext cx="2697480" cy="1371600"/>
          </a:xfrm>
          <a:prstGeom prst="rect">
            <a:avLst/>
          </a:prstGeom>
          <a:solidFill>
            <a:srgbClr val="111828"/>
          </a:solidFill>
          <a:ln w="889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551176"/>
            <a:ext cx="26974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64261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Quantinuum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5488" y="29535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" y="3209544"/>
            <a:ext cx="246888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2644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H-Series with highest gate fidelity; joint venture of Honeywell Quantum &amp; Cambridge Quantum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72968" y="2551176"/>
            <a:ext cx="2697480" cy="1371600"/>
          </a:xfrm>
          <a:prstGeom prst="rect">
            <a:avLst/>
          </a:prstGeom>
          <a:solidFill>
            <a:srgbClr val="111828"/>
          </a:solidFill>
          <a:ln w="889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72968" y="2551176"/>
            <a:ext cx="26974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82696" y="264261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282696" y="29535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82696" y="3209544"/>
            <a:ext cx="246888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82696" y="32644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Quantum platform; Majorana-based approach targeting 1M qubits on a chip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80176" y="2551176"/>
            <a:ext cx="2697480" cy="1371600"/>
          </a:xfrm>
          <a:prstGeom prst="rect">
            <a:avLst/>
          </a:prstGeom>
          <a:solidFill>
            <a:srgbClr val="111828"/>
          </a:solidFill>
          <a:ln w="889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80176" y="2551176"/>
            <a:ext cx="26974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9904" y="264261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QuEra / Atom Computing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089904" y="29535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Atoms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89904" y="3209544"/>
            <a:ext cx="246888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9904" y="32644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1,000+ qubit arrays; reconfigurable architectures; rapid scaling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977640"/>
            <a:ext cx="8412480" cy="457200"/>
          </a:xfrm>
          <a:prstGeom prst="rect">
            <a:avLst/>
          </a:prstGeom>
          <a:solidFill>
            <a:srgbClr val="0D1A2D"/>
          </a:solidFill>
          <a:ln w="5080">
            <a:solidFill>
              <a:srgbClr val="4755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977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investment: Governments worldwide have committed $30B+ in national quantum initiatives. Cloud access (AWS Braket, Azure Quantum, IBM Quantum) democratizes experimentation.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to Fault-Tolerant Quantum Computation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timeline of eras — from today's NISQ devices to tomorrow's fault-tolerant machines: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97480" cy="3703320"/>
          </a:xfrm>
          <a:prstGeom prst="rect">
            <a:avLst/>
          </a:prstGeom>
          <a:solidFill>
            <a:srgbClr val="11182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69748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612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NISQ Era  (Now)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5453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– ~2027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~1,000 physical qubits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" y="2148840"/>
            <a:ext cx="246888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35915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2402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noise, no error correction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0352" y="29260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07208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algorithms (VQE, QAOA)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0352" y="349300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74136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circuit depth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0352" y="405993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41064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 for narrow tasks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0" y="1051560"/>
            <a:ext cx="2697480" cy="3703320"/>
          </a:xfrm>
          <a:prstGeom prst="rect">
            <a:avLst/>
          </a:prstGeom>
          <a:solidFill>
            <a:srgbClr val="1118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05156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11612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Fault-Tolerant  (Near-term)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15453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~2027 – 2032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0128" y="18288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physical / 10s of logical qubits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10128" y="2148840"/>
            <a:ext cx="246888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64992" y="235915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2402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codes below error threshold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64992" y="29260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807208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Longer, reliable computations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64992" y="349300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374136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chemistry and optimization wins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64992" y="405993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941064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quantum utility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35040" y="1051560"/>
            <a:ext cx="2697480" cy="3703320"/>
          </a:xfrm>
          <a:prstGeom prst="rect">
            <a:avLst/>
          </a:prstGeom>
          <a:solidFill>
            <a:srgbClr val="11182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05156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11612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Quantum Computers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44768" y="15453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2030s+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44768" y="18288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physical / thousands of logical qubits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44768" y="2148840"/>
            <a:ext cx="246888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99632" y="23591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224028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Shor's and Grover's at scale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99632" y="29260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2807208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design, materials, finance disruption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99632" y="349300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374136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becomes critical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199632" y="405993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3941064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 across many domains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Software Ecosystem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858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quantum computers requires a full software stack — from high-level languages to hardware control: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097280"/>
            <a:ext cx="8366760" cy="694944"/>
          </a:xfrm>
          <a:prstGeom prst="rect">
            <a:avLst/>
          </a:prstGeom>
          <a:solidFill>
            <a:srgbClr val="111828"/>
          </a:solidFill>
          <a:ln w="762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97280"/>
            <a:ext cx="73152" cy="69494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52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11521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tools for chemistry (OpenFermion), optimization (D-Wave Ocean), ML (PennyLane, TensorFlow Quantum)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0" y="117043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Nature · OpenFermion · PennyLane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847088"/>
            <a:ext cx="8366760" cy="694944"/>
          </a:xfrm>
          <a:prstGeom prst="rect">
            <a:avLst/>
          </a:prstGeom>
          <a:solidFill>
            <a:srgbClr val="111828"/>
          </a:solidFill>
          <a:ln w="762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847088"/>
            <a:ext cx="73152" cy="69494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Libraries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1800" y="19019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quantum algorithms: VQE, QAOA, QFT, amplitude estimation. Portable across backends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0" y="19202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Algorithms · Cirq · Braket SDK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596896"/>
            <a:ext cx="8366760" cy="694944"/>
          </a:xfrm>
          <a:prstGeom prst="rect">
            <a:avLst/>
          </a:prstGeom>
          <a:solidFill>
            <a:srgbClr val="111828"/>
          </a:solidFill>
          <a:ln w="762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596896"/>
            <a:ext cx="73152" cy="69494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/ Transpiler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logical quantum circuits to the specific native gates and connectivity of target hardware. Critical for performance on noisy devices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0" y="267004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Transpiler · BQSKit · tket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346704"/>
            <a:ext cx="8366760" cy="694944"/>
          </a:xfrm>
          <a:prstGeom prst="rect">
            <a:avLst/>
          </a:prstGeom>
          <a:solidFill>
            <a:srgbClr val="111828"/>
          </a:solidFill>
          <a:ln w="762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346704"/>
            <a:ext cx="73152" cy="6949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71800" y="34015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Classically simulate small quantum circuits for testing and debugging before running on real hardware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341985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Aer · Cirq Simulator · cuQuantum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4096512"/>
            <a:ext cx="8366760" cy="694944"/>
          </a:xfrm>
          <a:prstGeom prst="rect">
            <a:avLst/>
          </a:prstGeom>
          <a:solidFill>
            <a:srgbClr val="111828"/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4096512"/>
            <a:ext cx="73152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151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Cloud Access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71800" y="41513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 providing access to real quantum processors from multiple vendors via unified APIs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89520" y="4169664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Quantum · AWS Braket · Azure Quantum · Google Cloud QC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Outlook &amp; Societal Impact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832104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2606040" cy="2377440"/>
          </a:xfrm>
          <a:prstGeom prst="rect">
            <a:avLst/>
          </a:prstGeom>
          <a:solidFill>
            <a:srgbClr val="111828"/>
          </a:solidFill>
          <a:ln w="1016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260604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Scientific Breakthroughs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 will unlock new classes of materials — better superconductors, catalysts, batteries. Exact protein folding simulations could accelerate drug development by decades.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804672"/>
            <a:ext cx="2606040" cy="2377440"/>
          </a:xfrm>
          <a:prstGeom prst="rect">
            <a:avLst/>
          </a:prstGeom>
          <a:solidFill>
            <a:srgbClr val="111828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04672"/>
            <a:ext cx="2606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914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Transformation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1399032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migration to post-quantum cryptography is already underway. Organizations must act now — encrypted data stolen today is vulnerable once large quantum computers arrive.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804672"/>
            <a:ext cx="2606040" cy="2377440"/>
          </a:xfrm>
          <a:prstGeom prst="rect">
            <a:avLst/>
          </a:prstGeom>
          <a:solidFill>
            <a:srgbClr val="111828"/>
          </a:solidFill>
          <a:ln w="1016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804672"/>
            <a:ext cx="260604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914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Quantum + AI Convergence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80760" y="1399032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will optimize quantum hardware; quantum processors will accelerate certain AI workloads. The two technologies will increasingly co-evolve in a virtuous cycle.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73552"/>
            <a:ext cx="8412480" cy="1645920"/>
          </a:xfrm>
          <a:prstGeom prst="rect">
            <a:avLst/>
          </a:prstGeom>
          <a:solidFill>
            <a:srgbClr val="111828"/>
          </a:solidFill>
          <a:ln w="1016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73552"/>
            <a:ext cx="841248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64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Experts Predict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7673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2026–2030: Early fault-tolerant demonstrations; first practical quantum advantage in narrow scientific domains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9709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2030–2035: Quantum computers begin disrupting drug discovery, materials design, and select optimization problems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44568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4622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2035+: Large-scale fault-tolerant machines arrive; post-quantum cryptography transition must be complete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658368"/>
            <a:ext cx="8366760" cy="749808"/>
          </a:xfrm>
          <a:prstGeom prst="rect">
            <a:avLst/>
          </a:prstGeom>
          <a:solidFill>
            <a:srgbClr val="111828"/>
          </a:solidFill>
          <a:ln w="635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658368"/>
            <a:ext cx="73152" cy="7498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04088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97280" y="749808"/>
            <a:ext cx="0" cy="566928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7132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is real — and accelerating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0058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theory to experimental hardware with hundreds of qubits, early fault-tolerance demonstrations, and cloud access for developers.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" y="1463040"/>
            <a:ext cx="8366760" cy="749808"/>
          </a:xfrm>
          <a:prstGeom prst="rect">
            <a:avLst/>
          </a:prstGeom>
          <a:solidFill>
            <a:srgbClr val="111828"/>
          </a:solidFill>
          <a:ln w="63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463040"/>
            <a:ext cx="73152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508760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97280" y="1554480"/>
            <a:ext cx="0" cy="566928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151790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hardware paths are being pursued in parallel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181051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Superconducting, trapped ions, neutral atoms, photonic, topological, and silicon spin qubits each offer distinct advantages. No single winner yet.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84048" y="2267712"/>
            <a:ext cx="8366760" cy="749808"/>
          </a:xfrm>
          <a:prstGeom prst="rect">
            <a:avLst/>
          </a:prstGeom>
          <a:solidFill>
            <a:srgbClr val="111828"/>
          </a:solidFill>
          <a:ln w="63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267712"/>
            <a:ext cx="73152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13432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97280" y="2359152"/>
            <a:ext cx="0" cy="566928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232257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cryptography threat is urgent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2615184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 post-quantum cryptography standards (NIST 2024) must begin now — encrypted data stolen today may be decrypted by tomorrow's quantum computers.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84048" y="3072384"/>
            <a:ext cx="8366760" cy="749808"/>
          </a:xfrm>
          <a:prstGeom prst="rect">
            <a:avLst/>
          </a:prstGeom>
          <a:solidFill>
            <a:srgbClr val="111828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072384"/>
            <a:ext cx="73152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18104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97280" y="3163824"/>
            <a:ext cx="0" cy="566928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31272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Transformative applications need fault tolerance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3419856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discovery, materials science, and large-scale optimization will require millions of error-corrected qubits — likely arriving in the 2030s.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84048" y="3877056"/>
            <a:ext cx="8366760" cy="749808"/>
          </a:xfrm>
          <a:prstGeom prst="rect">
            <a:avLst/>
          </a:prstGeom>
          <a:solidFill>
            <a:srgbClr val="111828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3877056"/>
            <a:ext cx="7315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922776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097280" y="3968496"/>
            <a:ext cx="0" cy="566928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34440" y="39319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multidisciplinary frontier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34440" y="42245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requires physics, engineering, CS, and mathematics working together. Workforce development and global investment are accelerating rapidly.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Computing: A Comprehensive Overview</dc:title>
  <dc:subject>PptxGenJS Presentation</dc:subject>
  <dc:creator>Quantum Overview</dc:creator>
  <cp:lastModifiedBy>Quantum Overview</cp:lastModifiedBy>
  <cp:revision>1</cp:revision>
  <dcterms:created xsi:type="dcterms:W3CDTF">2026-04-15T02:13:30Z</dcterms:created>
  <dcterms:modified xsi:type="dcterms:W3CDTF">2026-04-15T02:13:30Z</dcterms:modified>
</cp:coreProperties>
</file>